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Roboto Condensed Bold" charset="1" panose="02000000000000000000"/>
      <p:regular r:id="rId28"/>
    </p:embeddedFont>
    <p:embeddedFont>
      <p:font typeface="Roboto Condensed" charset="1" panose="02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49" y="4142303"/>
            <a:ext cx="4834595" cy="712759"/>
            <a:chOff x="0" y="0"/>
            <a:chExt cx="1273309" cy="187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3309" cy="187722"/>
            </a:xfrm>
            <a:custGeom>
              <a:avLst/>
              <a:gdLst/>
              <a:ahLst/>
              <a:cxnLst/>
              <a:rect r="r" b="b" t="t" l="l"/>
              <a:pathLst>
                <a:path h="18772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60451" y="4142303"/>
            <a:ext cx="4834595" cy="712759"/>
            <a:chOff x="0" y="0"/>
            <a:chExt cx="1273309" cy="1877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187722"/>
            </a:xfrm>
            <a:custGeom>
              <a:avLst/>
              <a:gdLst/>
              <a:ahLst/>
              <a:cxnLst/>
              <a:rect r="r" b="b" t="t" l="l"/>
              <a:pathLst>
                <a:path h="18772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540148" y="7029728"/>
            <a:ext cx="3207704" cy="828270"/>
          </a:xfrm>
          <a:custGeom>
            <a:avLst/>
            <a:gdLst/>
            <a:ahLst/>
            <a:cxnLst/>
            <a:rect r="r" b="b" t="t" l="l"/>
            <a:pathLst>
              <a:path h="828270" w="3207704">
                <a:moveTo>
                  <a:pt x="0" y="0"/>
                </a:moveTo>
                <a:lnTo>
                  <a:pt x="3207704" y="0"/>
                </a:lnTo>
                <a:lnTo>
                  <a:pt x="3207704" y="828269"/>
                </a:lnTo>
                <a:lnTo>
                  <a:pt x="0" y="828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634" r="0" b="-10036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21848" y="3338703"/>
            <a:ext cx="7297400" cy="451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b="true" sz="8799" spc="-87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INCIDENTE DE SEGURIDAD</a:t>
            </a:r>
          </a:p>
          <a:p>
            <a:pPr algn="ctr">
              <a:lnSpc>
                <a:spcPts val="8799"/>
              </a:lnSpc>
            </a:pPr>
          </a:p>
          <a:p>
            <a:pPr algn="ctr">
              <a:lnSpc>
                <a:spcPts val="87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357381" y="6472753"/>
            <a:ext cx="35732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David Huang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424404" y="1272334"/>
            <a:ext cx="142583" cy="6498899"/>
            <a:chOff x="0" y="0"/>
            <a:chExt cx="37553" cy="17116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53" cy="1711644"/>
            </a:xfrm>
            <a:custGeom>
              <a:avLst/>
              <a:gdLst/>
              <a:ahLst/>
              <a:cxnLst/>
              <a:rect r="r" b="b" t="t" l="l"/>
              <a:pathLst>
                <a:path h="1711644" w="37553">
                  <a:moveTo>
                    <a:pt x="0" y="0"/>
                  </a:moveTo>
                  <a:lnTo>
                    <a:pt x="37553" y="0"/>
                  </a:lnTo>
                  <a:lnTo>
                    <a:pt x="37553" y="1711644"/>
                  </a:lnTo>
                  <a:lnTo>
                    <a:pt x="0" y="17116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7553" cy="1664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89855" y="2991085"/>
            <a:ext cx="6943275" cy="4304830"/>
          </a:xfrm>
          <a:custGeom>
            <a:avLst/>
            <a:gdLst/>
            <a:ahLst/>
            <a:cxnLst/>
            <a:rect r="r" b="b" t="t" l="l"/>
            <a:pathLst>
              <a:path h="4304830" w="6943275">
                <a:moveTo>
                  <a:pt x="0" y="0"/>
                </a:moveTo>
                <a:lnTo>
                  <a:pt x="6943275" y="0"/>
                </a:lnTo>
                <a:lnTo>
                  <a:pt x="6943275" y="4304830"/>
                </a:lnTo>
                <a:lnTo>
                  <a:pt x="0" y="4304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010752" y="1056033"/>
            <a:ext cx="7660031" cy="6931501"/>
            <a:chOff x="0" y="0"/>
            <a:chExt cx="10213375" cy="924200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42875"/>
              <a:ext cx="10213375" cy="1560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768"/>
                </a:lnSpc>
                <a:spcBef>
                  <a:spcPct val="0"/>
                </a:spcBef>
              </a:pPr>
              <a:r>
                <a:rPr lang="en-US" sz="6977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INDICE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59575"/>
              <a:ext cx="10213375" cy="7082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2158" indent="-251079" lvl="1">
                <a:lnSpc>
                  <a:spcPts val="3256"/>
                </a:lnSpc>
                <a:buFont typeface="Arial"/>
                <a:buChar char="•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Incidente ocurrido.</a:t>
              </a:r>
            </a:p>
            <a:p>
              <a:pPr algn="l" marL="1004316" indent="-334772" lvl="2">
                <a:lnSpc>
                  <a:spcPts val="3256"/>
                </a:lnSpc>
                <a:buFont typeface="Arial"/>
                <a:buChar char="⚬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Reconocimiento de vulnerabilidad.</a:t>
              </a:r>
            </a:p>
            <a:p>
              <a:pPr algn="l" marL="1004316" indent="-334772" lvl="2">
                <a:lnSpc>
                  <a:spcPts val="3256"/>
                </a:lnSpc>
                <a:buFont typeface="Arial"/>
                <a:buChar char="⚬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Recolección de evidencias.</a:t>
              </a:r>
            </a:p>
            <a:p>
              <a:pPr algn="l" marL="502158" indent="-251079" lvl="1">
                <a:lnSpc>
                  <a:spcPts val="3256"/>
                </a:lnSpc>
                <a:buFont typeface="Arial"/>
                <a:buChar char="•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Solución del incidente.</a:t>
              </a:r>
            </a:p>
            <a:p>
              <a:pPr algn="l" marL="502158" indent="-251079" lvl="1">
                <a:lnSpc>
                  <a:spcPts val="3256"/>
                </a:lnSpc>
                <a:buFont typeface="Arial"/>
                <a:buChar char="•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Investigación de nuevas vulnerabilidades.</a:t>
              </a:r>
            </a:p>
            <a:p>
              <a:pPr algn="l" marL="1004316" indent="-334772" lvl="2">
                <a:lnSpc>
                  <a:spcPts val="3256"/>
                </a:lnSpc>
                <a:buFont typeface="Arial"/>
                <a:buChar char="⚬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Vulnerabilidad en el puerto 21.</a:t>
              </a:r>
            </a:p>
            <a:p>
              <a:pPr algn="l" marL="1004316" indent="-334772" lvl="2">
                <a:lnSpc>
                  <a:spcPts val="3256"/>
                </a:lnSpc>
                <a:buFont typeface="Arial"/>
                <a:buChar char="⚬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Vulnerabilidad en el puerto 80.</a:t>
              </a:r>
            </a:p>
            <a:p>
              <a:pPr algn="l" marL="502158" indent="-251079" lvl="1">
                <a:lnSpc>
                  <a:spcPts val="3256"/>
                </a:lnSpc>
                <a:buFont typeface="Arial"/>
                <a:buChar char="•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Recomendaciones sobre la máquina.</a:t>
              </a:r>
            </a:p>
            <a:p>
              <a:pPr algn="l" marL="502158" indent="-251079" lvl="1">
                <a:lnSpc>
                  <a:spcPts val="3256"/>
                </a:lnSpc>
                <a:buFont typeface="Arial"/>
                <a:buChar char="•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Mejoras a futuro.</a:t>
              </a:r>
            </a:p>
            <a:p>
              <a:pPr algn="l" marL="1004316" indent="-334772" lvl="2">
                <a:lnSpc>
                  <a:spcPts val="3256"/>
                </a:lnSpc>
                <a:buFont typeface="Arial"/>
                <a:buChar char="⚬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Organizar un plan de respuestas contra incidentes.</a:t>
              </a:r>
            </a:p>
            <a:p>
              <a:pPr algn="l" marL="1004316" indent="-334772" lvl="2">
                <a:lnSpc>
                  <a:spcPts val="3256"/>
                </a:lnSpc>
                <a:buFont typeface="Arial"/>
                <a:buChar char="⚬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Crear backups.</a:t>
              </a:r>
            </a:p>
            <a:p>
              <a:pPr algn="l" marL="1004316" indent="-334772" lvl="2">
                <a:lnSpc>
                  <a:spcPts val="3256"/>
                </a:lnSpc>
                <a:buFont typeface="Arial"/>
                <a:buChar char="⚬"/>
              </a:pPr>
              <a:r>
                <a:rPr lang="en-US" sz="23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Mecanismos para proteger los datos.</a:t>
              </a:r>
            </a:p>
            <a:p>
              <a:pPr algn="l">
                <a:lnSpc>
                  <a:spcPts val="3256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243576" y="1483195"/>
            <a:ext cx="10015724" cy="3985929"/>
          </a:xfrm>
          <a:custGeom>
            <a:avLst/>
            <a:gdLst/>
            <a:ahLst/>
            <a:cxnLst/>
            <a:rect r="r" b="b" t="t" l="l"/>
            <a:pathLst>
              <a:path h="3985929" w="10015724">
                <a:moveTo>
                  <a:pt x="0" y="0"/>
                </a:moveTo>
                <a:lnTo>
                  <a:pt x="10015724" y="0"/>
                </a:lnTo>
                <a:lnTo>
                  <a:pt x="10015724" y="3985929"/>
                </a:lnTo>
                <a:lnTo>
                  <a:pt x="0" y="3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43576" y="5783905"/>
            <a:ext cx="9406521" cy="2855330"/>
          </a:xfrm>
          <a:custGeom>
            <a:avLst/>
            <a:gdLst/>
            <a:ahLst/>
            <a:cxnLst/>
            <a:rect r="r" b="b" t="t" l="l"/>
            <a:pathLst>
              <a:path h="2855330" w="9406521">
                <a:moveTo>
                  <a:pt x="0" y="0"/>
                </a:moveTo>
                <a:lnTo>
                  <a:pt x="9406522" y="0"/>
                </a:lnTo>
                <a:lnTo>
                  <a:pt x="9406522" y="2855331"/>
                </a:lnTo>
                <a:lnTo>
                  <a:pt x="0" y="2855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2782" y="5411974"/>
            <a:ext cx="4369937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Herramientas útiles como Rkhunter o Chkrootkit para detectar malware y el uso de journalctl para verificar si han entrado en la máquina.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562350"/>
            <a:ext cx="60695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Reconocimiento</a:t>
            </a:r>
          </a:p>
          <a:p>
            <a:pPr algn="r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471233"/>
            <a:ext cx="8657825" cy="576767"/>
          </a:xfrm>
          <a:custGeom>
            <a:avLst/>
            <a:gdLst/>
            <a:ahLst/>
            <a:cxnLst/>
            <a:rect r="r" b="b" t="t" l="l"/>
            <a:pathLst>
              <a:path h="576767" w="8657825">
                <a:moveTo>
                  <a:pt x="0" y="0"/>
                </a:moveTo>
                <a:lnTo>
                  <a:pt x="8657825" y="0"/>
                </a:lnTo>
                <a:lnTo>
                  <a:pt x="8657825" y="576767"/>
                </a:lnTo>
                <a:lnTo>
                  <a:pt x="0" y="576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2159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467100"/>
            <a:ext cx="8592944" cy="240511"/>
          </a:xfrm>
          <a:custGeom>
            <a:avLst/>
            <a:gdLst/>
            <a:ahLst/>
            <a:cxnLst/>
            <a:rect r="r" b="b" t="t" l="l"/>
            <a:pathLst>
              <a:path h="240511" w="8592944">
                <a:moveTo>
                  <a:pt x="0" y="0"/>
                </a:moveTo>
                <a:lnTo>
                  <a:pt x="8592944" y="0"/>
                </a:lnTo>
                <a:lnTo>
                  <a:pt x="8592944" y="240511"/>
                </a:lnTo>
                <a:lnTo>
                  <a:pt x="0" y="240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7296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130594"/>
            <a:ext cx="8592944" cy="323054"/>
          </a:xfrm>
          <a:custGeom>
            <a:avLst/>
            <a:gdLst/>
            <a:ahLst/>
            <a:cxnLst/>
            <a:rect r="r" b="b" t="t" l="l"/>
            <a:pathLst>
              <a:path h="323054" w="8592944">
                <a:moveTo>
                  <a:pt x="0" y="0"/>
                </a:moveTo>
                <a:lnTo>
                  <a:pt x="8592944" y="0"/>
                </a:lnTo>
                <a:lnTo>
                  <a:pt x="8592944" y="323055"/>
                </a:lnTo>
                <a:lnTo>
                  <a:pt x="0" y="323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92" t="0" r="-8075" b="-50880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5001087"/>
            <a:ext cx="8592944" cy="1092784"/>
          </a:xfrm>
          <a:custGeom>
            <a:avLst/>
            <a:gdLst/>
            <a:ahLst/>
            <a:cxnLst/>
            <a:rect r="r" b="b" t="t" l="l"/>
            <a:pathLst>
              <a:path h="1092784" w="8592944">
                <a:moveTo>
                  <a:pt x="0" y="0"/>
                </a:moveTo>
                <a:lnTo>
                  <a:pt x="8592944" y="0"/>
                </a:lnTo>
                <a:lnTo>
                  <a:pt x="8592944" y="1092783"/>
                </a:lnTo>
                <a:lnTo>
                  <a:pt x="0" y="1092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455820"/>
            <a:ext cx="8657825" cy="341066"/>
          </a:xfrm>
          <a:custGeom>
            <a:avLst/>
            <a:gdLst/>
            <a:ahLst/>
            <a:cxnLst/>
            <a:rect r="r" b="b" t="t" l="l"/>
            <a:pathLst>
              <a:path h="341066" w="8657825">
                <a:moveTo>
                  <a:pt x="0" y="0"/>
                </a:moveTo>
                <a:lnTo>
                  <a:pt x="8657825" y="0"/>
                </a:lnTo>
                <a:lnTo>
                  <a:pt x="8657825" y="341066"/>
                </a:lnTo>
                <a:lnTo>
                  <a:pt x="0" y="34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01" t="-172590" r="-7820" b="-45720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7158836"/>
            <a:ext cx="8657825" cy="1077241"/>
          </a:xfrm>
          <a:custGeom>
            <a:avLst/>
            <a:gdLst/>
            <a:ahLst/>
            <a:cxnLst/>
            <a:rect r="r" b="b" t="t" l="l"/>
            <a:pathLst>
              <a:path h="1077241" w="8657825">
                <a:moveTo>
                  <a:pt x="0" y="0"/>
                </a:moveTo>
                <a:lnTo>
                  <a:pt x="8657825" y="0"/>
                </a:lnTo>
                <a:lnTo>
                  <a:pt x="8657825" y="1077241"/>
                </a:lnTo>
                <a:lnTo>
                  <a:pt x="0" y="1077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067258" y="5604991"/>
            <a:ext cx="5347837" cy="11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utiliza la herramienta para ayudar a la detección de malware o vulnerabilidades.</a:t>
            </a:r>
          </a:p>
          <a:p>
            <a:pPr algn="r">
              <a:lnSpc>
                <a:spcPts val="2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741176" y="4080991"/>
            <a:ext cx="61838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6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Rkhunter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45225" y="2413522"/>
            <a:ext cx="9904627" cy="357212"/>
          </a:xfrm>
          <a:custGeom>
            <a:avLst/>
            <a:gdLst/>
            <a:ahLst/>
            <a:cxnLst/>
            <a:rect r="r" b="b" t="t" l="l"/>
            <a:pathLst>
              <a:path h="357212" w="9904627">
                <a:moveTo>
                  <a:pt x="0" y="0"/>
                </a:moveTo>
                <a:lnTo>
                  <a:pt x="9904627" y="0"/>
                </a:lnTo>
                <a:lnTo>
                  <a:pt x="9904627" y="357212"/>
                </a:lnTo>
                <a:lnTo>
                  <a:pt x="0" y="35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16290" r="-72544" b="-160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5225" y="3208884"/>
            <a:ext cx="8986808" cy="3142858"/>
          </a:xfrm>
          <a:custGeom>
            <a:avLst/>
            <a:gdLst/>
            <a:ahLst/>
            <a:cxnLst/>
            <a:rect r="r" b="b" t="t" l="l"/>
            <a:pathLst>
              <a:path h="3142858" w="8986808">
                <a:moveTo>
                  <a:pt x="0" y="0"/>
                </a:moveTo>
                <a:lnTo>
                  <a:pt x="8986808" y="0"/>
                </a:lnTo>
                <a:lnTo>
                  <a:pt x="8986808" y="3142859"/>
                </a:lnTo>
                <a:lnTo>
                  <a:pt x="0" y="3142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5225" y="6789893"/>
            <a:ext cx="9904627" cy="1759283"/>
          </a:xfrm>
          <a:custGeom>
            <a:avLst/>
            <a:gdLst/>
            <a:ahLst/>
            <a:cxnLst/>
            <a:rect r="r" b="b" t="t" l="l"/>
            <a:pathLst>
              <a:path h="1759283" w="9904627">
                <a:moveTo>
                  <a:pt x="0" y="0"/>
                </a:moveTo>
                <a:lnTo>
                  <a:pt x="9904627" y="0"/>
                </a:lnTo>
                <a:lnTo>
                  <a:pt x="9904627" y="1759283"/>
                </a:lnTo>
                <a:lnTo>
                  <a:pt x="0" y="1759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425975" y="3828742"/>
            <a:ext cx="740087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Chkrootkit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906544" y="4647892"/>
            <a:ext cx="5837436" cy="2897192"/>
            <a:chOff x="0" y="0"/>
            <a:chExt cx="7783248" cy="38629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731" y="689056"/>
              <a:ext cx="6219992" cy="157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 </a:t>
              </a:r>
              <a:r>
                <a:rPr lang="en-US" sz="2400" u="none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utiliza la herramienta para ayudar a la detección de rootkits.</a:t>
              </a:r>
            </a:p>
            <a:p>
              <a:pPr algn="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70544" y="3403606"/>
              <a:ext cx="7612704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761443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816148" y="6684955"/>
            <a:ext cx="13383430" cy="780814"/>
          </a:xfrm>
          <a:custGeom>
            <a:avLst/>
            <a:gdLst/>
            <a:ahLst/>
            <a:cxnLst/>
            <a:rect r="r" b="b" t="t" l="l"/>
            <a:pathLst>
              <a:path h="780814" w="13383430">
                <a:moveTo>
                  <a:pt x="0" y="0"/>
                </a:moveTo>
                <a:lnTo>
                  <a:pt x="13383430" y="0"/>
                </a:lnTo>
                <a:lnTo>
                  <a:pt x="13383430" y="780815"/>
                </a:lnTo>
                <a:lnTo>
                  <a:pt x="0" y="780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02898" y="1666068"/>
            <a:ext cx="2796680" cy="2796680"/>
          </a:xfrm>
          <a:custGeom>
            <a:avLst/>
            <a:gdLst/>
            <a:ahLst/>
            <a:cxnLst/>
            <a:rect r="r" b="b" t="t" l="l"/>
            <a:pathLst>
              <a:path h="2796680" w="2796680">
                <a:moveTo>
                  <a:pt x="0" y="0"/>
                </a:moveTo>
                <a:lnTo>
                  <a:pt x="2796680" y="0"/>
                </a:lnTo>
                <a:lnTo>
                  <a:pt x="2796680" y="2796679"/>
                </a:lnTo>
                <a:lnTo>
                  <a:pt x="0" y="2796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3472" y="2515329"/>
            <a:ext cx="62600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6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Journalctl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33472" y="4165940"/>
            <a:ext cx="7889029" cy="11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 la herramienta de línea de comandos utilizada para consultar y mostrar los registros (logs) del sistema en sistemas Linux.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59487" y="3523991"/>
            <a:ext cx="13009086" cy="758974"/>
          </a:xfrm>
          <a:custGeom>
            <a:avLst/>
            <a:gdLst/>
            <a:ahLst/>
            <a:cxnLst/>
            <a:rect r="r" b="b" t="t" l="l"/>
            <a:pathLst>
              <a:path h="758974" w="13009086">
                <a:moveTo>
                  <a:pt x="0" y="0"/>
                </a:moveTo>
                <a:lnTo>
                  <a:pt x="13009086" y="0"/>
                </a:lnTo>
                <a:lnTo>
                  <a:pt x="13009086" y="758974"/>
                </a:lnTo>
                <a:lnTo>
                  <a:pt x="0" y="75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59487" y="4842801"/>
            <a:ext cx="3703083" cy="3505345"/>
          </a:xfrm>
          <a:custGeom>
            <a:avLst/>
            <a:gdLst/>
            <a:ahLst/>
            <a:cxnLst/>
            <a:rect r="r" b="b" t="t" l="l"/>
            <a:pathLst>
              <a:path h="3505345" w="3703083">
                <a:moveTo>
                  <a:pt x="0" y="0"/>
                </a:moveTo>
                <a:lnTo>
                  <a:pt x="3703083" y="0"/>
                </a:lnTo>
                <a:lnTo>
                  <a:pt x="3703083" y="3505345"/>
                </a:lnTo>
                <a:lnTo>
                  <a:pt x="0" y="3505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98397" y="1737100"/>
            <a:ext cx="7400875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6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Evidencias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09459" y="5408459"/>
            <a:ext cx="8048468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máquina virtual debian sufrió un ataque por el puerto 22.</a:t>
            </a:r>
          </a:p>
          <a:p>
            <a:pPr algn="r">
              <a:lnSpc>
                <a:spcPts val="3359"/>
              </a:lnSpc>
            </a:pPr>
          </a:p>
          <a:p>
            <a:pPr algn="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 una mala configuración del SSH, da una vulnerabilidad de escalada de privilegios.</a:t>
            </a:r>
          </a:p>
          <a:p>
            <a:pPr algn="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991618" y="1623340"/>
            <a:ext cx="9215915" cy="3096256"/>
          </a:xfrm>
          <a:custGeom>
            <a:avLst/>
            <a:gdLst/>
            <a:ahLst/>
            <a:cxnLst/>
            <a:rect r="r" b="b" t="t" l="l"/>
            <a:pathLst>
              <a:path h="3096256" w="9215915">
                <a:moveTo>
                  <a:pt x="0" y="0"/>
                </a:moveTo>
                <a:lnTo>
                  <a:pt x="9215915" y="0"/>
                </a:lnTo>
                <a:lnTo>
                  <a:pt x="9215915" y="3096257"/>
                </a:lnTo>
                <a:lnTo>
                  <a:pt x="0" y="3096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10345" y="5348905"/>
            <a:ext cx="3397187" cy="3241986"/>
          </a:xfrm>
          <a:custGeom>
            <a:avLst/>
            <a:gdLst/>
            <a:ahLst/>
            <a:cxnLst/>
            <a:rect r="r" b="b" t="t" l="l"/>
            <a:pathLst>
              <a:path h="3241986" w="3397187">
                <a:moveTo>
                  <a:pt x="0" y="0"/>
                </a:moveTo>
                <a:lnTo>
                  <a:pt x="3397188" y="0"/>
                </a:lnTo>
                <a:lnTo>
                  <a:pt x="3397188" y="3241986"/>
                </a:lnTo>
                <a:lnTo>
                  <a:pt x="0" y="3241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720160" y="4605955"/>
            <a:ext cx="524994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Solución</a:t>
            </a:r>
          </a:p>
          <a:p>
            <a:pPr algn="r">
              <a:lnSpc>
                <a:spcPts val="6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83243" y="6436561"/>
            <a:ext cx="7928491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Cambio en el fichero de la autenticación del puerto 22.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Aplicar un firewall “ufw” para la ayuda contra la vulnerabilidad conocida.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841908" y="1028700"/>
            <a:ext cx="8930581" cy="3875115"/>
          </a:xfrm>
          <a:custGeom>
            <a:avLst/>
            <a:gdLst/>
            <a:ahLst/>
            <a:cxnLst/>
            <a:rect r="r" b="b" t="t" l="l"/>
            <a:pathLst>
              <a:path h="3875115" w="8930581">
                <a:moveTo>
                  <a:pt x="0" y="0"/>
                </a:moveTo>
                <a:lnTo>
                  <a:pt x="8930581" y="0"/>
                </a:lnTo>
                <a:lnTo>
                  <a:pt x="8930581" y="3875115"/>
                </a:lnTo>
                <a:lnTo>
                  <a:pt x="0" y="3875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41908" y="5259146"/>
            <a:ext cx="8930581" cy="3605722"/>
          </a:xfrm>
          <a:custGeom>
            <a:avLst/>
            <a:gdLst/>
            <a:ahLst/>
            <a:cxnLst/>
            <a:rect r="r" b="b" t="t" l="l"/>
            <a:pathLst>
              <a:path h="3605722" w="8930581">
                <a:moveTo>
                  <a:pt x="0" y="0"/>
                </a:moveTo>
                <a:lnTo>
                  <a:pt x="8930581" y="0"/>
                </a:lnTo>
                <a:lnTo>
                  <a:pt x="8930581" y="3605723"/>
                </a:lnTo>
                <a:lnTo>
                  <a:pt x="0" y="3605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48184" y="5063177"/>
            <a:ext cx="4369937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usa la herramienta de Nmap para analizar los puertos, Netstat y Nikto.</a:t>
            </a:r>
          </a:p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Gracias a la máquina Kali nos ayudará a la investigación.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48598" y="3287106"/>
            <a:ext cx="60695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Investigación</a:t>
            </a:r>
          </a:p>
          <a:p>
            <a:pPr algn="r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81336" y="2935910"/>
            <a:ext cx="14725327" cy="5356338"/>
          </a:xfrm>
          <a:custGeom>
            <a:avLst/>
            <a:gdLst/>
            <a:ahLst/>
            <a:cxnLst/>
            <a:rect r="r" b="b" t="t" l="l"/>
            <a:pathLst>
              <a:path h="5356338" w="14725327">
                <a:moveTo>
                  <a:pt x="0" y="0"/>
                </a:moveTo>
                <a:lnTo>
                  <a:pt x="14725328" y="0"/>
                </a:lnTo>
                <a:lnTo>
                  <a:pt x="14725328" y="5356338"/>
                </a:lnTo>
                <a:lnTo>
                  <a:pt x="0" y="5356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18850" y="2163115"/>
            <a:ext cx="987415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puerto 21 tiene un acceso autorizado con un acceso llamado “anonymous”.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916386" y="1104900"/>
            <a:ext cx="61838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6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Vsftpd (puerto 21)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83315" y="2705100"/>
            <a:ext cx="13046648" cy="6298089"/>
          </a:xfrm>
          <a:custGeom>
            <a:avLst/>
            <a:gdLst/>
            <a:ahLst/>
            <a:cxnLst/>
            <a:rect r="r" b="b" t="t" l="l"/>
            <a:pathLst>
              <a:path h="6298089" w="13046648">
                <a:moveTo>
                  <a:pt x="0" y="0"/>
                </a:moveTo>
                <a:lnTo>
                  <a:pt x="13046648" y="0"/>
                </a:lnTo>
                <a:lnTo>
                  <a:pt x="13046648" y="6298089"/>
                </a:lnTo>
                <a:lnTo>
                  <a:pt x="0" y="6298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96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299951" y="1123950"/>
            <a:ext cx="62600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6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Apache (puerto 80)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303219" y="2073409"/>
            <a:ext cx="1098508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Gracias a la herramienta Nikto se ha encontrado varias vulnerabilidades en la página web.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368686" y="2080568"/>
            <a:ext cx="7594201" cy="6125864"/>
          </a:xfrm>
          <a:custGeom>
            <a:avLst/>
            <a:gdLst/>
            <a:ahLst/>
            <a:cxnLst/>
            <a:rect r="r" b="b" t="t" l="l"/>
            <a:pathLst>
              <a:path h="6125864" w="7594201">
                <a:moveTo>
                  <a:pt x="0" y="0"/>
                </a:moveTo>
                <a:lnTo>
                  <a:pt x="7594201" y="0"/>
                </a:lnTo>
                <a:lnTo>
                  <a:pt x="7594201" y="6125864"/>
                </a:lnTo>
                <a:lnTo>
                  <a:pt x="0" y="61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542" y="4880170"/>
            <a:ext cx="6451324" cy="1978934"/>
          </a:xfrm>
          <a:custGeom>
            <a:avLst/>
            <a:gdLst/>
            <a:ahLst/>
            <a:cxnLst/>
            <a:rect r="r" b="b" t="t" l="l"/>
            <a:pathLst>
              <a:path h="1978934" w="6451324">
                <a:moveTo>
                  <a:pt x="0" y="0"/>
                </a:moveTo>
                <a:lnTo>
                  <a:pt x="6451324" y="0"/>
                </a:lnTo>
                <a:lnTo>
                  <a:pt x="6451324" y="1978934"/>
                </a:lnTo>
                <a:lnTo>
                  <a:pt x="0" y="197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0542" y="7421873"/>
            <a:ext cx="6568229" cy="2014794"/>
          </a:xfrm>
          <a:custGeom>
            <a:avLst/>
            <a:gdLst/>
            <a:ahLst/>
            <a:cxnLst/>
            <a:rect r="r" b="b" t="t" l="l"/>
            <a:pathLst>
              <a:path h="2014794" w="6568229">
                <a:moveTo>
                  <a:pt x="0" y="0"/>
                </a:moveTo>
                <a:lnTo>
                  <a:pt x="6568229" y="0"/>
                </a:lnTo>
                <a:lnTo>
                  <a:pt x="6568229" y="2014794"/>
                </a:lnTo>
                <a:lnTo>
                  <a:pt x="0" y="2014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0542" y="1529792"/>
            <a:ext cx="5547841" cy="310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6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Recomendaciones en el puerto 21</a:t>
            </a:r>
          </a:p>
          <a:p>
            <a:pPr algn="l">
              <a:lnSpc>
                <a:spcPts val="6000"/>
              </a:lnSpc>
            </a:pP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84699" y="3443047"/>
            <a:ext cx="7889029" cy="11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Deshabilitar el acceso anónimo del puerto vsftpd.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Aplicar un firewall para contrarrestar las vulnerabilidades.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8543" y="1321629"/>
            <a:ext cx="7576241" cy="6099988"/>
          </a:xfrm>
          <a:custGeom>
            <a:avLst/>
            <a:gdLst/>
            <a:ahLst/>
            <a:cxnLst/>
            <a:rect r="r" b="b" t="t" l="l"/>
            <a:pathLst>
              <a:path h="6099988" w="7576241">
                <a:moveTo>
                  <a:pt x="0" y="0"/>
                </a:moveTo>
                <a:lnTo>
                  <a:pt x="7576241" y="0"/>
                </a:lnTo>
                <a:lnTo>
                  <a:pt x="7576241" y="6099988"/>
                </a:lnTo>
                <a:lnTo>
                  <a:pt x="0" y="6099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91303" y="7686626"/>
            <a:ext cx="6563481" cy="1007779"/>
          </a:xfrm>
          <a:custGeom>
            <a:avLst/>
            <a:gdLst/>
            <a:ahLst/>
            <a:cxnLst/>
            <a:rect r="r" b="b" t="t" l="l"/>
            <a:pathLst>
              <a:path h="1007779" w="6563481">
                <a:moveTo>
                  <a:pt x="0" y="0"/>
                </a:moveTo>
                <a:lnTo>
                  <a:pt x="6563481" y="0"/>
                </a:lnTo>
                <a:lnTo>
                  <a:pt x="6563481" y="1007779"/>
                </a:lnTo>
                <a:lnTo>
                  <a:pt x="0" y="1007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41778" y="2774016"/>
            <a:ext cx="4274395" cy="2129699"/>
          </a:xfrm>
          <a:custGeom>
            <a:avLst/>
            <a:gdLst/>
            <a:ahLst/>
            <a:cxnLst/>
            <a:rect r="r" b="b" t="t" l="l"/>
            <a:pathLst>
              <a:path h="2129699" w="4274395">
                <a:moveTo>
                  <a:pt x="0" y="0"/>
                </a:moveTo>
                <a:lnTo>
                  <a:pt x="4274395" y="0"/>
                </a:lnTo>
                <a:lnTo>
                  <a:pt x="4274395" y="2129698"/>
                </a:lnTo>
                <a:lnTo>
                  <a:pt x="0" y="2129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41778" y="5218513"/>
            <a:ext cx="4274395" cy="1201158"/>
          </a:xfrm>
          <a:custGeom>
            <a:avLst/>
            <a:gdLst/>
            <a:ahLst/>
            <a:cxnLst/>
            <a:rect r="r" b="b" t="t" l="l"/>
            <a:pathLst>
              <a:path h="1201158" w="4274395">
                <a:moveTo>
                  <a:pt x="0" y="0"/>
                </a:moveTo>
                <a:lnTo>
                  <a:pt x="4274395" y="0"/>
                </a:lnTo>
                <a:lnTo>
                  <a:pt x="4274395" y="1201158"/>
                </a:lnTo>
                <a:lnTo>
                  <a:pt x="0" y="1201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32" r="0" b="-293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41778" y="6595450"/>
            <a:ext cx="4274395" cy="2182352"/>
          </a:xfrm>
          <a:custGeom>
            <a:avLst/>
            <a:gdLst/>
            <a:ahLst/>
            <a:cxnLst/>
            <a:rect r="r" b="b" t="t" l="l"/>
            <a:pathLst>
              <a:path h="2182352" w="4274395">
                <a:moveTo>
                  <a:pt x="0" y="0"/>
                </a:moveTo>
                <a:lnTo>
                  <a:pt x="4274395" y="0"/>
                </a:lnTo>
                <a:lnTo>
                  <a:pt x="4274395" y="2182352"/>
                </a:lnTo>
                <a:lnTo>
                  <a:pt x="0" y="2182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325" t="-1131" r="0" b="-113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23469" y="8916821"/>
            <a:ext cx="6931315" cy="298886"/>
          </a:xfrm>
          <a:custGeom>
            <a:avLst/>
            <a:gdLst/>
            <a:ahLst/>
            <a:cxnLst/>
            <a:rect r="r" b="b" t="t" l="l"/>
            <a:pathLst>
              <a:path h="298886" w="6931315">
                <a:moveTo>
                  <a:pt x="0" y="0"/>
                </a:moveTo>
                <a:lnTo>
                  <a:pt x="6931315" y="0"/>
                </a:lnTo>
                <a:lnTo>
                  <a:pt x="6931315" y="298886"/>
                </a:lnTo>
                <a:lnTo>
                  <a:pt x="0" y="2988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541778" y="849019"/>
            <a:ext cx="5527607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6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Recomendaciones en el puerto 80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877981" y="4738419"/>
            <a:ext cx="9554365" cy="3798696"/>
          </a:xfrm>
          <a:custGeom>
            <a:avLst/>
            <a:gdLst/>
            <a:ahLst/>
            <a:cxnLst/>
            <a:rect r="r" b="b" t="t" l="l"/>
            <a:pathLst>
              <a:path h="3798696" w="9554365">
                <a:moveTo>
                  <a:pt x="0" y="0"/>
                </a:moveTo>
                <a:lnTo>
                  <a:pt x="9554366" y="0"/>
                </a:lnTo>
                <a:lnTo>
                  <a:pt x="9554366" y="3798696"/>
                </a:lnTo>
                <a:lnTo>
                  <a:pt x="0" y="3798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5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77981" y="1126683"/>
            <a:ext cx="9554365" cy="3272983"/>
          </a:xfrm>
          <a:custGeom>
            <a:avLst/>
            <a:gdLst/>
            <a:ahLst/>
            <a:cxnLst/>
            <a:rect r="r" b="b" t="t" l="l"/>
            <a:pathLst>
              <a:path h="3272983" w="9554365">
                <a:moveTo>
                  <a:pt x="0" y="0"/>
                </a:moveTo>
                <a:lnTo>
                  <a:pt x="9554366" y="0"/>
                </a:lnTo>
                <a:lnTo>
                  <a:pt x="9554366" y="3272982"/>
                </a:lnTo>
                <a:lnTo>
                  <a:pt x="0" y="3272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1110" y="3833926"/>
            <a:ext cx="578868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Recomendaciones</a:t>
            </a:r>
          </a:p>
          <a:p>
            <a:pPr algn="r">
              <a:lnSpc>
                <a:spcPts val="6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9895" y="4779849"/>
            <a:ext cx="6664168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Actualizar la máquina.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Eliminación de puertos.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Aplicar firewalls.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Añadir un crontab para la actualización del sistema.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620269" y="5692661"/>
            <a:ext cx="8639031" cy="2146276"/>
          </a:xfrm>
          <a:custGeom>
            <a:avLst/>
            <a:gdLst/>
            <a:ahLst/>
            <a:cxnLst/>
            <a:rect r="r" b="b" t="t" l="l"/>
            <a:pathLst>
              <a:path h="2146276" w="8639031">
                <a:moveTo>
                  <a:pt x="0" y="0"/>
                </a:moveTo>
                <a:lnTo>
                  <a:pt x="8639031" y="0"/>
                </a:lnTo>
                <a:lnTo>
                  <a:pt x="8639031" y="2146277"/>
                </a:lnTo>
                <a:lnTo>
                  <a:pt x="0" y="2146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41858" y="2194868"/>
            <a:ext cx="9817442" cy="2098478"/>
          </a:xfrm>
          <a:custGeom>
            <a:avLst/>
            <a:gdLst/>
            <a:ahLst/>
            <a:cxnLst/>
            <a:rect r="r" b="b" t="t" l="l"/>
            <a:pathLst>
              <a:path h="2098478" w="9817442">
                <a:moveTo>
                  <a:pt x="0" y="0"/>
                </a:moveTo>
                <a:lnTo>
                  <a:pt x="9817442" y="0"/>
                </a:lnTo>
                <a:lnTo>
                  <a:pt x="9817442" y="2098479"/>
                </a:lnTo>
                <a:lnTo>
                  <a:pt x="0" y="2098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1110" y="3833926"/>
            <a:ext cx="578868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Recomendaciones</a:t>
            </a:r>
          </a:p>
          <a:p>
            <a:pPr algn="r">
              <a:lnSpc>
                <a:spcPts val="6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9895" y="4779849"/>
            <a:ext cx="6664168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Actualizar la máquina.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Eliminación de puertos.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Aplicar firewalls.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Añadir un crontab para la actualización del sistema.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489491" y="6411291"/>
            <a:ext cx="8506252" cy="1708223"/>
          </a:xfrm>
          <a:custGeom>
            <a:avLst/>
            <a:gdLst/>
            <a:ahLst/>
            <a:cxnLst/>
            <a:rect r="r" b="b" t="t" l="l"/>
            <a:pathLst>
              <a:path h="1708223" w="8506252">
                <a:moveTo>
                  <a:pt x="0" y="0"/>
                </a:moveTo>
                <a:lnTo>
                  <a:pt x="8506253" y="0"/>
                </a:lnTo>
                <a:lnTo>
                  <a:pt x="8506253" y="1708223"/>
                </a:lnTo>
                <a:lnTo>
                  <a:pt x="0" y="1708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89491" y="1979167"/>
            <a:ext cx="8506252" cy="2857832"/>
          </a:xfrm>
          <a:custGeom>
            <a:avLst/>
            <a:gdLst/>
            <a:ahLst/>
            <a:cxnLst/>
            <a:rect r="r" b="b" t="t" l="l"/>
            <a:pathLst>
              <a:path h="2857832" w="8506252">
                <a:moveTo>
                  <a:pt x="0" y="0"/>
                </a:moveTo>
                <a:lnTo>
                  <a:pt x="8506253" y="0"/>
                </a:lnTo>
                <a:lnTo>
                  <a:pt x="8506253" y="2857832"/>
                </a:lnTo>
                <a:lnTo>
                  <a:pt x="0" y="2857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1110" y="3833926"/>
            <a:ext cx="578868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Recomendaciones</a:t>
            </a:r>
          </a:p>
          <a:p>
            <a:pPr algn="r">
              <a:lnSpc>
                <a:spcPts val="6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9895" y="4779849"/>
            <a:ext cx="6664168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Actualizar la máquina.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Eliminación de puertos.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Aplicar firewalls.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Añadir un crontab para la actualización del sistema.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22297" y="1853100"/>
            <a:ext cx="8137003" cy="6580801"/>
          </a:xfrm>
          <a:custGeom>
            <a:avLst/>
            <a:gdLst/>
            <a:ahLst/>
            <a:cxnLst/>
            <a:rect r="r" b="b" t="t" l="l"/>
            <a:pathLst>
              <a:path h="6580801" w="8137003">
                <a:moveTo>
                  <a:pt x="0" y="0"/>
                </a:moveTo>
                <a:lnTo>
                  <a:pt x="8137003" y="0"/>
                </a:lnTo>
                <a:lnTo>
                  <a:pt x="8137003" y="6580800"/>
                </a:lnTo>
                <a:lnTo>
                  <a:pt x="0" y="6580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1110" y="3833926"/>
            <a:ext cx="578868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Recomendaciones</a:t>
            </a:r>
          </a:p>
          <a:p>
            <a:pPr algn="r">
              <a:lnSpc>
                <a:spcPts val="6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69895" y="4779849"/>
            <a:ext cx="6664168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Actualizar la máquina.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Eliminación de puertos.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Aplicar firewalls.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(Opcional) Añadir un crontab para la actualización del sistema.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1303" y="5215672"/>
            <a:ext cx="8192259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ORGANIZAR UN PLAN DE RESPUESTAS CONTRA INCIDENTES.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CREAR BACKUPS.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MECANISMOS PARA PROTEGER LOS DATOS.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295411" y="5143500"/>
            <a:ext cx="9697178" cy="597338"/>
            <a:chOff x="0" y="0"/>
            <a:chExt cx="2553989" cy="1573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3989" cy="157324"/>
            </a:xfrm>
            <a:custGeom>
              <a:avLst/>
              <a:gdLst/>
              <a:ahLst/>
              <a:cxnLst/>
              <a:rect r="r" b="b" t="t" l="l"/>
              <a:pathLst>
                <a:path h="157324" w="2553989">
                  <a:moveTo>
                    <a:pt x="0" y="0"/>
                  </a:moveTo>
                  <a:lnTo>
                    <a:pt x="2553989" y="0"/>
                  </a:lnTo>
                  <a:lnTo>
                    <a:pt x="255398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5398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95411" y="5973590"/>
            <a:ext cx="9697178" cy="597338"/>
            <a:chOff x="0" y="0"/>
            <a:chExt cx="2553989" cy="1573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3989" cy="157324"/>
            </a:xfrm>
            <a:custGeom>
              <a:avLst/>
              <a:gdLst/>
              <a:ahLst/>
              <a:cxnLst/>
              <a:rect r="r" b="b" t="t" l="l"/>
              <a:pathLst>
                <a:path h="157324" w="2553989">
                  <a:moveTo>
                    <a:pt x="0" y="0"/>
                  </a:moveTo>
                  <a:lnTo>
                    <a:pt x="2553989" y="0"/>
                  </a:lnTo>
                  <a:lnTo>
                    <a:pt x="255398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5398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95411" y="6799528"/>
            <a:ext cx="9697178" cy="597338"/>
            <a:chOff x="0" y="0"/>
            <a:chExt cx="2553989" cy="1573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53989" cy="157324"/>
            </a:xfrm>
            <a:custGeom>
              <a:avLst/>
              <a:gdLst/>
              <a:ahLst/>
              <a:cxnLst/>
              <a:rect r="r" b="b" t="t" l="l"/>
              <a:pathLst>
                <a:path h="157324" w="2553989">
                  <a:moveTo>
                    <a:pt x="0" y="0"/>
                  </a:moveTo>
                  <a:lnTo>
                    <a:pt x="2553989" y="0"/>
                  </a:lnTo>
                  <a:lnTo>
                    <a:pt x="255398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5398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92346" y="2459128"/>
            <a:ext cx="10503309" cy="137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spc="8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MEJORA A FUTURO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9131" y="1189752"/>
            <a:ext cx="12809739" cy="279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spc="8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 DE RESPUESTAS ANTE INCIDENTES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54650" y="4391340"/>
            <a:ext cx="2039690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PREVER.</a:t>
            </a:r>
          </a:p>
          <a:p>
            <a:pPr algn="ctr">
              <a:lnSpc>
                <a:spcPts val="3780"/>
              </a:lnSpc>
            </a:p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INFORMAR.</a:t>
            </a:r>
          </a:p>
          <a:p>
            <a:pPr algn="ctr">
              <a:lnSpc>
                <a:spcPts val="3780"/>
              </a:lnSpc>
            </a:p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RESPONDER.</a:t>
            </a:r>
          </a:p>
          <a:p>
            <a:pPr algn="ctr">
              <a:lnSpc>
                <a:spcPts val="3780"/>
              </a:lnSpc>
            </a:p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MITIGAR.</a:t>
            </a:r>
          </a:p>
          <a:p>
            <a:pPr algn="ctr">
              <a:lnSpc>
                <a:spcPts val="3780"/>
              </a:lnSpc>
            </a:p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APRENDIZAJE.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492240" y="4310771"/>
            <a:ext cx="5303520" cy="708122"/>
            <a:chOff x="0" y="0"/>
            <a:chExt cx="1396812" cy="186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6812" cy="186501"/>
            </a:xfrm>
            <a:custGeom>
              <a:avLst/>
              <a:gdLst/>
              <a:ahLst/>
              <a:cxnLst/>
              <a:rect r="r" b="b" t="t" l="l"/>
              <a:pathLst>
                <a:path h="186501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86501"/>
                  </a:lnTo>
                  <a:lnTo>
                    <a:pt x="0" y="18650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6812" cy="224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92240" y="5257018"/>
            <a:ext cx="5303520" cy="708122"/>
            <a:chOff x="0" y="0"/>
            <a:chExt cx="1396812" cy="1865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6812" cy="186501"/>
            </a:xfrm>
            <a:custGeom>
              <a:avLst/>
              <a:gdLst/>
              <a:ahLst/>
              <a:cxnLst/>
              <a:rect r="r" b="b" t="t" l="l"/>
              <a:pathLst>
                <a:path h="186501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86501"/>
                  </a:lnTo>
                  <a:lnTo>
                    <a:pt x="0" y="18650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96812" cy="23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92240" y="6203264"/>
            <a:ext cx="5303520" cy="708122"/>
            <a:chOff x="0" y="0"/>
            <a:chExt cx="1396812" cy="1865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6812" cy="186501"/>
            </a:xfrm>
            <a:custGeom>
              <a:avLst/>
              <a:gdLst/>
              <a:ahLst/>
              <a:cxnLst/>
              <a:rect r="r" b="b" t="t" l="l"/>
              <a:pathLst>
                <a:path h="186501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86501"/>
                  </a:lnTo>
                  <a:lnTo>
                    <a:pt x="0" y="18650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96812" cy="224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92240" y="7149511"/>
            <a:ext cx="5303520" cy="708122"/>
            <a:chOff x="0" y="0"/>
            <a:chExt cx="1396812" cy="1865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6812" cy="186501"/>
            </a:xfrm>
            <a:custGeom>
              <a:avLst/>
              <a:gdLst/>
              <a:ahLst/>
              <a:cxnLst/>
              <a:rect r="r" b="b" t="t" l="l"/>
              <a:pathLst>
                <a:path h="186501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86501"/>
                  </a:lnTo>
                  <a:lnTo>
                    <a:pt x="0" y="18650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96812" cy="224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92240" y="8095757"/>
            <a:ext cx="5303520" cy="708122"/>
            <a:chOff x="0" y="0"/>
            <a:chExt cx="1396812" cy="1865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6812" cy="186501"/>
            </a:xfrm>
            <a:custGeom>
              <a:avLst/>
              <a:gdLst/>
              <a:ahLst/>
              <a:cxnLst/>
              <a:rect r="r" b="b" t="t" l="l"/>
              <a:pathLst>
                <a:path h="186501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86501"/>
                  </a:lnTo>
                  <a:lnTo>
                    <a:pt x="0" y="18650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96812" cy="224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9131" y="1966460"/>
            <a:ext cx="12809739" cy="137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spc="8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CREACIÓN DE BACKUPS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75953" y="4386939"/>
            <a:ext cx="8936094" cy="376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TIPOS DE RESPALDO.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AUTOMATIZACIÓN.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ALMACENAMIENTO.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VERIFICACIÓN.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SEGURIDAD Y CONTROL DE ACCESO.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675953" y="4315855"/>
            <a:ext cx="8936094" cy="597338"/>
            <a:chOff x="0" y="0"/>
            <a:chExt cx="2353539" cy="1573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3539" cy="157324"/>
            </a:xfrm>
            <a:custGeom>
              <a:avLst/>
              <a:gdLst/>
              <a:ahLst/>
              <a:cxnLst/>
              <a:rect r="r" b="b" t="t" l="l"/>
              <a:pathLst>
                <a:path h="157324" w="2353539">
                  <a:moveTo>
                    <a:pt x="0" y="0"/>
                  </a:moveTo>
                  <a:lnTo>
                    <a:pt x="2353539" y="0"/>
                  </a:lnTo>
                  <a:lnTo>
                    <a:pt x="235353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5353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75953" y="5143500"/>
            <a:ext cx="8936094" cy="597338"/>
            <a:chOff x="0" y="0"/>
            <a:chExt cx="2353539" cy="1573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53539" cy="157324"/>
            </a:xfrm>
            <a:custGeom>
              <a:avLst/>
              <a:gdLst/>
              <a:ahLst/>
              <a:cxnLst/>
              <a:rect r="r" b="b" t="t" l="l"/>
              <a:pathLst>
                <a:path h="157324" w="2353539">
                  <a:moveTo>
                    <a:pt x="0" y="0"/>
                  </a:moveTo>
                  <a:lnTo>
                    <a:pt x="2353539" y="0"/>
                  </a:lnTo>
                  <a:lnTo>
                    <a:pt x="235353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5353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75953" y="5969438"/>
            <a:ext cx="8936094" cy="597338"/>
            <a:chOff x="0" y="0"/>
            <a:chExt cx="2353539" cy="1573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3539" cy="157324"/>
            </a:xfrm>
            <a:custGeom>
              <a:avLst/>
              <a:gdLst/>
              <a:ahLst/>
              <a:cxnLst/>
              <a:rect r="r" b="b" t="t" l="l"/>
              <a:pathLst>
                <a:path h="157324" w="2353539">
                  <a:moveTo>
                    <a:pt x="0" y="0"/>
                  </a:moveTo>
                  <a:lnTo>
                    <a:pt x="2353539" y="0"/>
                  </a:lnTo>
                  <a:lnTo>
                    <a:pt x="235353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5353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75953" y="6795375"/>
            <a:ext cx="8936094" cy="597338"/>
            <a:chOff x="0" y="0"/>
            <a:chExt cx="2353539" cy="1573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53539" cy="157324"/>
            </a:xfrm>
            <a:custGeom>
              <a:avLst/>
              <a:gdLst/>
              <a:ahLst/>
              <a:cxnLst/>
              <a:rect r="r" b="b" t="t" l="l"/>
              <a:pathLst>
                <a:path h="157324" w="2353539">
                  <a:moveTo>
                    <a:pt x="0" y="0"/>
                  </a:moveTo>
                  <a:lnTo>
                    <a:pt x="2353539" y="0"/>
                  </a:lnTo>
                  <a:lnTo>
                    <a:pt x="235353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5353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675953" y="7621313"/>
            <a:ext cx="8936094" cy="597338"/>
            <a:chOff x="0" y="0"/>
            <a:chExt cx="2353539" cy="1573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53539" cy="157324"/>
            </a:xfrm>
            <a:custGeom>
              <a:avLst/>
              <a:gdLst/>
              <a:ahLst/>
              <a:cxnLst/>
              <a:rect r="r" b="b" t="t" l="l"/>
              <a:pathLst>
                <a:path h="157324" w="2353539">
                  <a:moveTo>
                    <a:pt x="0" y="0"/>
                  </a:moveTo>
                  <a:lnTo>
                    <a:pt x="2353539" y="0"/>
                  </a:lnTo>
                  <a:lnTo>
                    <a:pt x="2353539" y="157324"/>
                  </a:lnTo>
                  <a:lnTo>
                    <a:pt x="0" y="157324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353539" cy="195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329893" y="5143500"/>
            <a:ext cx="4729655" cy="4114800"/>
          </a:xfrm>
          <a:custGeom>
            <a:avLst/>
            <a:gdLst/>
            <a:ahLst/>
            <a:cxnLst/>
            <a:rect r="r" b="b" t="t" l="l"/>
            <a:pathLst>
              <a:path h="4114800" w="4729655">
                <a:moveTo>
                  <a:pt x="0" y="0"/>
                </a:moveTo>
                <a:lnTo>
                  <a:pt x="4729655" y="0"/>
                </a:lnTo>
                <a:lnTo>
                  <a:pt x="47296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50889" y="1601235"/>
            <a:ext cx="12809739" cy="279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 spc="8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MECANISMOS PARA PROTEGER LOS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16206" y="5225288"/>
            <a:ext cx="9463962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SEGUIR LA TRIADA DE LA CIA.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RESPALDOS PERIÓDICOS.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CIFRADO DE DATOS.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IMPLEMENTAR CONTROLES DE ACCESO.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950889" y="5143500"/>
            <a:ext cx="5303520" cy="613164"/>
            <a:chOff x="0" y="0"/>
            <a:chExt cx="1396812" cy="161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6812" cy="161492"/>
            </a:xfrm>
            <a:custGeom>
              <a:avLst/>
              <a:gdLst/>
              <a:ahLst/>
              <a:cxnLst/>
              <a:rect r="r" b="b" t="t" l="l"/>
              <a:pathLst>
                <a:path h="161492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61492"/>
                  </a:lnTo>
                  <a:lnTo>
                    <a:pt x="0" y="161492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96812" cy="20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50889" y="5976430"/>
            <a:ext cx="5303520" cy="613164"/>
            <a:chOff x="0" y="0"/>
            <a:chExt cx="1396812" cy="1614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6812" cy="161492"/>
            </a:xfrm>
            <a:custGeom>
              <a:avLst/>
              <a:gdLst/>
              <a:ahLst/>
              <a:cxnLst/>
              <a:rect r="r" b="b" t="t" l="l"/>
              <a:pathLst>
                <a:path h="161492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61492"/>
                  </a:lnTo>
                  <a:lnTo>
                    <a:pt x="0" y="161492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96812" cy="20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50889" y="6808669"/>
            <a:ext cx="5303520" cy="613164"/>
            <a:chOff x="0" y="0"/>
            <a:chExt cx="1396812" cy="161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6812" cy="161492"/>
            </a:xfrm>
            <a:custGeom>
              <a:avLst/>
              <a:gdLst/>
              <a:ahLst/>
              <a:cxnLst/>
              <a:rect r="r" b="b" t="t" l="l"/>
              <a:pathLst>
                <a:path h="161492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61492"/>
                  </a:lnTo>
                  <a:lnTo>
                    <a:pt x="0" y="161492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96812" cy="20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50889" y="7640908"/>
            <a:ext cx="5303520" cy="613164"/>
            <a:chOff x="0" y="0"/>
            <a:chExt cx="1396812" cy="1614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6812" cy="161492"/>
            </a:xfrm>
            <a:custGeom>
              <a:avLst/>
              <a:gdLst/>
              <a:ahLst/>
              <a:cxnLst/>
              <a:rect r="r" b="b" t="t" l="l"/>
              <a:pathLst>
                <a:path h="161492" w="1396812">
                  <a:moveTo>
                    <a:pt x="0" y="0"/>
                  </a:moveTo>
                  <a:lnTo>
                    <a:pt x="1396812" y="0"/>
                  </a:lnTo>
                  <a:lnTo>
                    <a:pt x="1396812" y="161492"/>
                  </a:lnTo>
                  <a:lnTo>
                    <a:pt x="0" y="161492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96812" cy="20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6954" y="3818418"/>
            <a:ext cx="1061409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b="true" sz="9000" spc="9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CONCLUSIÓN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DAHATu2_Kro</dc:identifier>
  <dcterms:modified xsi:type="dcterms:W3CDTF">2011-08-01T06:04:30Z</dcterms:modified>
  <cp:revision>1</cp:revision>
  <dc:title>Incidente de Seguridad</dc:title>
</cp:coreProperties>
</file>